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2" r:id="rId2"/>
    <p:sldId id="257" r:id="rId3"/>
    <p:sldId id="258" r:id="rId4"/>
    <p:sldId id="259" r:id="rId5"/>
    <p:sldId id="266" r:id="rId6"/>
    <p:sldId id="269" r:id="rId7"/>
    <p:sldId id="261" r:id="rId8"/>
    <p:sldId id="270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529"/>
    <a:srgbClr val="0B1E3D"/>
    <a:srgbClr val="C43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DBBF9-30E6-435D-A9CE-1E0992C5F597}" v="255" dt="2026-06-22T17:12:41.418"/>
    <p1510:client id="{5DC047F6-97F5-41C4-8F37-EC395979082E}" v="122" dt="2026-06-22T17:44:45.947"/>
    <p1510:client id="{A9FADB71-A695-47DF-B32A-4922CE8FD646}" v="2" dt="2026-06-23T13:51:09.935"/>
    <p1510:client id="{B22664B4-7FA8-4453-9105-5A73D67C7157}" v="366" dt="2026-06-22T20:31:20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Encryption (ms)</c:v>
                </c:pt>
              </c:strCache>
            </c:strRef>
          </c:tx>
          <c:spPr>
            <a:solidFill>
              <a:srgbClr val="F25C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RSA-2048</c:v>
                </c:pt>
                <c:pt idx="1">
                  <c:v>AES-256</c:v>
                </c:pt>
                <c:pt idx="2">
                  <c:v>ECC-256</c:v>
                </c:pt>
                <c:pt idx="3">
                  <c:v>SymECCipher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6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0F-4ACF-BA0F-BCDDEAC6FD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Decryption (ms)</c:v>
                </c:pt>
              </c:strCache>
            </c:strRef>
          </c:tx>
          <c:spPr>
            <a:solidFill>
              <a:srgbClr val="5FCBB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RSA-2048</c:v>
                </c:pt>
                <c:pt idx="1">
                  <c:v>AES-256</c:v>
                </c:pt>
                <c:pt idx="2">
                  <c:v>ECC-256</c:v>
                </c:pt>
                <c:pt idx="3">
                  <c:v>SymECCipher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5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0F-4ACF-BA0F-BCDDEAC6FD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AF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EAF1F5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EAF1F5"/>
                    </a:solidFill>
                    <a:latin typeface="Arial"/>
                  </a:rPr>
                  <a:t>Time (milliseconds)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AF1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70F6F-E593-4534-8C3B-3792B86E27B1}" type="datetimeFigureOut"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8556D-09F9-4C3D-819C-8EA44CD0E8E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6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5CF2-59CE-912A-6536-8410B50C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26C1B-0EB4-2945-06C9-8E5662DA8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3400A-A01C-15A8-2743-8E7F62668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94140-C976-1EF7-D7E0-74034F8B8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60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389F-2B4C-124E-C44B-F72BB8B5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45D83-90F0-D206-AB2C-FD3034BDD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009DC-2A2A-48F8-F680-F22DD4480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0B61F-F16A-20BC-74ED-263AB2170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8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24816482-8676-3061-32DD-924F5B7460B1}"/>
              </a:ext>
            </a:extLst>
          </p:cNvPr>
          <p:cNvSpPr/>
          <p:nvPr/>
        </p:nvSpPr>
        <p:spPr>
          <a:xfrm>
            <a:off x="-55880" y="-134257"/>
            <a:ext cx="12305211" cy="7085874"/>
          </a:xfrm>
          <a:prstGeom prst="roundRect">
            <a:avLst>
              <a:gd name="adj" fmla="val 1633"/>
            </a:avLst>
          </a:prstGeom>
          <a:solidFill>
            <a:srgbClr val="0B1E3D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71F4175-105C-ED5D-D989-8E5D6651C6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8869680" y="4206240"/>
            <a:ext cx="2743200" cy="27432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ED3B09C-0080-0D80-A8E2-46F0D1971A4D}"/>
              </a:ext>
            </a:extLst>
          </p:cNvPr>
          <p:cNvSpPr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200">
                <a:solidFill>
                  <a:srgbClr val="5FCBB5"/>
                </a:solidFill>
                <a:latin typeface="Calibri"/>
                <a:ea typeface="Calibri"/>
                <a:cs typeface="Calibri"/>
              </a:rPr>
              <a:t>CSC 412 ·  CRYPTOGRAPHY &amp; NETWORK SECURITY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D14FF21-E05B-9DCF-9725-39B11A8A7210}"/>
              </a:ext>
            </a:extLst>
          </p:cNvPr>
          <p:cNvSpPr/>
          <p:nvPr/>
        </p:nvSpPr>
        <p:spPr>
          <a:xfrm>
            <a:off x="5943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SymECCipher</a:t>
            </a:r>
            <a:endParaRPr lang="en-US" sz="60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5015E3E-7EF2-9F97-6A43-92B1FFC39C09}"/>
              </a:ext>
            </a:extLst>
          </p:cNvPr>
          <p:cNvSpPr/>
          <p:nvPr/>
        </p:nvSpPr>
        <p:spPr>
          <a:xfrm>
            <a:off x="640080" y="3520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ECC-AES Encryption Framework for Secure,</a:t>
            </a:r>
            <a:endParaRPr lang="en-US" sz="1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Healthcare Data Protection in the Cloud</a:t>
            </a:r>
            <a:endParaRPr lang="en-US" sz="19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1B89C01-136F-8E8C-C9FC-B9E069BF1540}"/>
              </a:ext>
            </a:extLst>
          </p:cNvPr>
          <p:cNvSpPr/>
          <p:nvPr/>
        </p:nvSpPr>
        <p:spPr>
          <a:xfrm>
            <a:off x="868680" y="48006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Selvi, P. &amp; Sakthivel, S.  ·  Scientific Reports (Nature Portfolio), Vol. 15, Article 30867  ·  2025</a:t>
            </a:r>
            <a:endParaRPr lang="en-US" sz="13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835BA79-855F-ED01-5263-776A62A8A37F}"/>
              </a:ext>
            </a:extLst>
          </p:cNvPr>
          <p:cNvSpPr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Presented by: </a:t>
            </a:r>
            <a:r>
              <a:rPr lang="en-US" sz="1300" b="1"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GROUP 34</a:t>
            </a:r>
            <a:endParaRPr lang="en-US" sz="1300">
              <a:solidFill>
                <a:schemeClr val="accent1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8923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healthcare cloud data needs better encryption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EAF1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data is moving to the cloud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606040"/>
            <a:ext cx="544068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5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ML-based depression detection tools now process behavioral and clinical data through cloud </a:t>
            </a:r>
            <a:r>
              <a:rPr lang="en-US" sz="14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infrastructure. </a:t>
            </a:r>
            <a:endParaRPr lang="en-US" sz="14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5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But exposing that data </a:t>
            </a:r>
            <a:r>
              <a:rPr lang="en-US" sz="145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even briefly creates serious privacy risk.</a:t>
            </a:r>
            <a:endParaRPr lang="en-US" sz="145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>
              <a:lnSpc>
                <a:spcPct val="130000"/>
              </a:lnSpc>
            </a:pPr>
            <a:endParaRPr lang="en-US" sz="1400" dirty="0">
              <a:solidFill>
                <a:srgbClr val="44546A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Patients avoid seeking help partly due to stigma. A data breach makes that worse. It can mean real, lasting harm to trust in digital </a:t>
            </a: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healthcare.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60120" y="4892040"/>
            <a:ext cx="544068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5029200"/>
            <a:ext cx="544068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300" i="1" dirty="0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Regulations like HIPAA and GDPR demand strong, provable protection of </a:t>
            </a:r>
            <a:r>
              <a:rPr lang="en-US" sz="1300" i="1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patient data not just "best effort" encryption.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160020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0B1E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63840" y="1874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tension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2376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22376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Strong security, but slow, 15ms encryption, 12ms </a:t>
            </a:r>
            <a:r>
              <a:rPr lang="en-US" sz="1300" dirty="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decryption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223760" y="36850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alone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223760" y="400507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no safe way to exchange keys in real time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223760" y="47640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223760" y="508406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are forced to choose between security and speed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Right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on cloud healthcare security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22082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healthcare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383280"/>
            <a:ext cx="2880360" cy="2423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Hospitals and ML platforms now store and process patient records entirely in </a:t>
            </a:r>
            <a:r>
              <a:rPr lang="en-US" sz="16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 cloud.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600" dirty="0">
              <a:solidFill>
                <a:srgbClr val="44546A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6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This convenience comes with 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constant exposure risk.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0116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22082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9260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diagnostics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36592" y="3383280"/>
            <a:ext cx="2880360" cy="2423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Machine learning models generate depression risk scores and diagnostic suggestions. 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44546A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These outputs are sensitive data </a:t>
            </a:r>
            <a:r>
              <a:rPr lang="en-US" sz="1600" dirty="0" err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too, and</a:t>
            </a: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 need protecting.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13064" y="201168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516" y="22082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29260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access demands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13064" y="3383280"/>
            <a:ext cx="2880360" cy="2423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Doctors and patients need instant access to records. Traditional heavy encryption (like RSA-2048) introduces delays that real-time care can't afford.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SymECCipher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encryption model combining the best of two algorithm types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4594" y="1706154"/>
            <a:ext cx="4910182" cy="2302692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4571" y="2504440"/>
            <a:ext cx="4731653" cy="14202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Elliptic Curve Cryptography handles secure KEY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EXCHANGE. </a:t>
            </a: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Establishes a shared secret with much smaller keys than RSA, at a fraction of the cost.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87607" y="1713411"/>
            <a:ext cx="4634410" cy="2295435"/>
          </a:xfrm>
          <a:prstGeom prst="roundRect">
            <a:avLst>
              <a:gd name="adj" fmla="val 3137"/>
            </a:avLst>
          </a:prstGeom>
          <a:solidFill>
            <a:srgbClr val="0B1E3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268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96348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098211" y="2606040"/>
            <a:ext cx="4049485" cy="131862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Advanced Encryption Standard handles the actual DATA ENCRYPTION </a:t>
            </a:r>
            <a:br>
              <a:rPr lang="en-US" sz="1400" dirty="0">
                <a:latin typeface="Calibri"/>
                <a:ea typeface="Calibri"/>
                <a:cs typeface="Calibri"/>
              </a:rPr>
            </a:br>
            <a:endParaRPr lang="en-US" sz="14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is fast, symmetric, and battle-</a:t>
            </a:r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tested for encrypting large volumes of patient records.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755640" y="2283821"/>
            <a:ext cx="821509" cy="11205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43E1C"/>
                </a:solidFill>
                <a:latin typeface="Calibri"/>
                <a:ea typeface="Calibri"/>
                <a:cs typeface="Calibri"/>
              </a:rPr>
              <a:t>+</a:t>
            </a:r>
            <a:endParaRPr lang="en-US" sz="4800" dirty="0">
              <a:solidFill>
                <a:srgbClr val="C43E1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40080" y="4160520"/>
            <a:ext cx="10607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            combine to form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54594" y="4651829"/>
            <a:ext cx="10772502" cy="1508760"/>
          </a:xfrm>
          <a:prstGeom prst="roundRect">
            <a:avLst>
              <a:gd name="adj" fmla="val 4848"/>
            </a:avLst>
          </a:prstGeom>
          <a:solidFill>
            <a:srgbClr val="C43E1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0691" y="5063309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3651" y="4651829"/>
            <a:ext cx="5897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SymECCipher — secure key exchange + fast bulk encryption, purpose-built for real-time cloud healthcare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3682A-5737-5F6F-BA4D-7B7814A9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F1AF42-062B-AD93-B8ED-030199388DBB}"/>
              </a:ext>
            </a:extLst>
          </p:cNvPr>
          <p:cNvSpPr/>
          <p:nvPr/>
        </p:nvSpPr>
        <p:spPr>
          <a:xfrm>
            <a:off x="690880" y="2409372"/>
            <a:ext cx="5392058" cy="1651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B1E3D"/>
                </a:solidFill>
                <a:latin typeface="Cambria"/>
                <a:ea typeface="Cambria"/>
                <a:cs typeface="Cambria" pitchFamily="34" charset="-120"/>
              </a:rPr>
              <a:t>How It Works</a:t>
            </a:r>
            <a:endParaRPr lang="en-US" sz="60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32E1D5-A599-2B63-284D-2817E909FA86}"/>
              </a:ext>
            </a:extLst>
          </p:cNvPr>
          <p:cNvSpPr/>
          <p:nvPr/>
        </p:nvSpPr>
        <p:spPr>
          <a:xfrm>
            <a:off x="690880" y="4050066"/>
            <a:ext cx="6241143" cy="3367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Four steps from raw patient data to secure cloud storage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579CA55-1357-4970-CA0D-D22851420144}"/>
              </a:ext>
            </a:extLst>
          </p:cNvPr>
          <p:cNvGrpSpPr/>
          <p:nvPr/>
        </p:nvGrpSpPr>
        <p:grpSpPr>
          <a:xfrm>
            <a:off x="7897224" y="1790337"/>
            <a:ext cx="2542032" cy="4114800"/>
            <a:chOff x="7984309" y="1783080"/>
            <a:chExt cx="2542032" cy="411480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B14C21C-4002-6855-CF50-BB3978E534E7}"/>
                </a:ext>
              </a:extLst>
            </p:cNvPr>
            <p:cNvSpPr/>
            <p:nvPr/>
          </p:nvSpPr>
          <p:spPr>
            <a:xfrm>
              <a:off x="7984309" y="1783080"/>
              <a:ext cx="2542032" cy="4114800"/>
            </a:xfrm>
            <a:prstGeom prst="roundRect">
              <a:avLst>
                <a:gd name="adj" fmla="val 2878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B1E3D">
                  <a:alpha val="10000"/>
                </a:srgbClr>
              </a:outerShdw>
            </a:effectLst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410D2FC-1EF4-C6F4-57EE-594FCA45E407}"/>
                </a:ext>
              </a:extLst>
            </p:cNvPr>
            <p:cNvSpPr/>
            <p:nvPr/>
          </p:nvSpPr>
          <p:spPr>
            <a:xfrm>
              <a:off x="8820985" y="2057400"/>
              <a:ext cx="868680" cy="868680"/>
            </a:xfrm>
            <a:prstGeom prst="ellipse">
              <a:avLst/>
            </a:prstGeom>
            <a:solidFill>
              <a:srgbClr val="0B1E3D"/>
            </a:solidFill>
            <a:ln/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716E9F93-236A-8830-2A2F-ADEFA33A67F8}"/>
                </a:ext>
              </a:extLst>
            </p:cNvPr>
            <p:cNvSpPr/>
            <p:nvPr/>
          </p:nvSpPr>
          <p:spPr>
            <a:xfrm>
              <a:off x="8820985" y="205740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8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5F1364A2-9F2E-EAB3-8EE8-91FABBBADF90}"/>
                </a:ext>
              </a:extLst>
            </p:cNvPr>
            <p:cNvSpPr/>
            <p:nvPr/>
          </p:nvSpPr>
          <p:spPr>
            <a:xfrm>
              <a:off x="8167189" y="3154680"/>
              <a:ext cx="2176272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50" b="1" dirty="0">
                  <a:solidFill>
                    <a:srgbClr val="0B1E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Generation</a:t>
              </a:r>
              <a:endParaRPr lang="en-US" sz="155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BDA0121-7802-D2C6-8E5D-0617141E406B}"/>
                </a:ext>
              </a:extLst>
            </p:cNvPr>
            <p:cNvSpPr/>
            <p:nvPr/>
          </p:nvSpPr>
          <p:spPr>
            <a:xfrm>
              <a:off x="8167189" y="3840480"/>
              <a:ext cx="2176272" cy="1874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44546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ECC generates a public/private key pair for each party (patient, doctor, cloud).</a:t>
              </a:r>
              <a:endParaRPr lang="en-US" sz="1200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A2435616-F0F0-C866-A9CF-01A2AD924593}"/>
                </a:ext>
              </a:extLst>
            </p:cNvPr>
            <p:cNvSpPr/>
            <p:nvPr/>
          </p:nvSpPr>
          <p:spPr>
            <a:xfrm>
              <a:off x="8023932" y="4083594"/>
              <a:ext cx="292608" cy="292608"/>
            </a:xfrm>
            <a:prstGeom prst="ellipse">
              <a:avLst/>
            </a:prstGeom>
            <a:solidFill>
              <a:srgbClr val="1C7293"/>
            </a:solidFill>
            <a:ln/>
          </p:spPr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7E4DE60-FB07-4262-23BB-E4E5911163F1}"/>
              </a:ext>
            </a:extLst>
          </p:cNvPr>
          <p:cNvGrpSpPr/>
          <p:nvPr/>
        </p:nvGrpSpPr>
        <p:grpSpPr>
          <a:xfrm>
            <a:off x="8136417" y="1790337"/>
            <a:ext cx="2542032" cy="4114800"/>
            <a:chOff x="8252532" y="1783080"/>
            <a:chExt cx="2542032" cy="4114800"/>
          </a:xfrm>
        </p:grpSpPr>
        <p:sp>
          <p:nvSpPr>
            <p:cNvPr id="31" name="Shape 8">
              <a:extLst>
                <a:ext uri="{FF2B5EF4-FFF2-40B4-BE49-F238E27FC236}">
                  <a16:creationId xmlns:a16="http://schemas.microsoft.com/office/drawing/2014/main" id="{57E48F36-1D35-F8A9-8568-6EFFC18B71B3}"/>
                </a:ext>
              </a:extLst>
            </p:cNvPr>
            <p:cNvSpPr/>
            <p:nvPr/>
          </p:nvSpPr>
          <p:spPr>
            <a:xfrm>
              <a:off x="8252532" y="1783080"/>
              <a:ext cx="2542032" cy="4114800"/>
            </a:xfrm>
            <a:prstGeom prst="roundRect">
              <a:avLst>
                <a:gd name="adj" fmla="val 2878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B1E3D">
                  <a:alpha val="10000"/>
                </a:srgbClr>
              </a:outerShdw>
            </a:effectLst>
          </p:spPr>
        </p:sp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12BE7D0C-DFDA-6B65-479C-BDE96B86CEFC}"/>
                </a:ext>
              </a:extLst>
            </p:cNvPr>
            <p:cNvSpPr/>
            <p:nvPr/>
          </p:nvSpPr>
          <p:spPr>
            <a:xfrm>
              <a:off x="9074694" y="2057400"/>
              <a:ext cx="868680" cy="868680"/>
            </a:xfrm>
            <a:prstGeom prst="ellipse">
              <a:avLst/>
            </a:prstGeom>
            <a:solidFill>
              <a:srgbClr val="0B1E3D"/>
            </a:solidFill>
            <a:ln/>
          </p:spPr>
        </p:sp>
        <p:sp>
          <p:nvSpPr>
            <p:cNvPr id="35" name="Text 10">
              <a:extLst>
                <a:ext uri="{FF2B5EF4-FFF2-40B4-BE49-F238E27FC236}">
                  <a16:creationId xmlns:a16="http://schemas.microsoft.com/office/drawing/2014/main" id="{22593B39-9774-250F-1C3B-D6F8DA8366AC}"/>
                </a:ext>
              </a:extLst>
            </p:cNvPr>
            <p:cNvSpPr/>
            <p:nvPr/>
          </p:nvSpPr>
          <p:spPr>
            <a:xfrm>
              <a:off x="9074694" y="205740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2800" dirty="0"/>
            </a:p>
          </p:txBody>
        </p:sp>
        <p:sp>
          <p:nvSpPr>
            <p:cNvPr id="36" name="Text 11">
              <a:extLst>
                <a:ext uri="{FF2B5EF4-FFF2-40B4-BE49-F238E27FC236}">
                  <a16:creationId xmlns:a16="http://schemas.microsoft.com/office/drawing/2014/main" id="{4E8FD0A5-0334-FC7F-5BE6-3F2627918216}"/>
                </a:ext>
              </a:extLst>
            </p:cNvPr>
            <p:cNvSpPr/>
            <p:nvPr/>
          </p:nvSpPr>
          <p:spPr>
            <a:xfrm>
              <a:off x="8420898" y="3154680"/>
              <a:ext cx="2176272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50" b="1" dirty="0">
                  <a:solidFill>
                    <a:srgbClr val="0B1E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Secure Key Exchange</a:t>
              </a:r>
              <a:endParaRPr lang="en-US" sz="1550" dirty="0"/>
            </a:p>
          </p:txBody>
        </p:sp>
        <p:sp>
          <p:nvSpPr>
            <p:cNvPr id="37" name="Text 12">
              <a:extLst>
                <a:ext uri="{FF2B5EF4-FFF2-40B4-BE49-F238E27FC236}">
                  <a16:creationId xmlns:a16="http://schemas.microsoft.com/office/drawing/2014/main" id="{F3972DB5-8DCE-EF99-FB83-B460CD7D59CE}"/>
                </a:ext>
              </a:extLst>
            </p:cNvPr>
            <p:cNvSpPr/>
            <p:nvPr/>
          </p:nvSpPr>
          <p:spPr>
            <a:xfrm>
              <a:off x="8420898" y="3840480"/>
              <a:ext cx="2176272" cy="1874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Using ECDH, both sides derive the same shared secret </a:t>
              </a:r>
              <a:r>
                <a:rPr lang="en-US" sz="160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key </a:t>
              </a:r>
              <a:br>
                <a:rPr lang="en-US" sz="16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</a:br>
              <a:endPara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endParaRPr>
            </a:p>
            <a:p>
              <a:r>
                <a:rPr lang="en-US" sz="160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Without ever transmitting it directly.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8" name="Shape 13">
              <a:extLst>
                <a:ext uri="{FF2B5EF4-FFF2-40B4-BE49-F238E27FC236}">
                  <a16:creationId xmlns:a16="http://schemas.microsoft.com/office/drawing/2014/main" id="{2AD6ED06-0004-2238-431B-C06A2D4FD288}"/>
                </a:ext>
              </a:extLst>
            </p:cNvPr>
            <p:cNvSpPr/>
            <p:nvPr/>
          </p:nvSpPr>
          <p:spPr>
            <a:xfrm>
              <a:off x="8284899" y="4069080"/>
              <a:ext cx="292608" cy="292608"/>
            </a:xfrm>
            <a:prstGeom prst="ellipse">
              <a:avLst/>
            </a:prstGeom>
            <a:solidFill>
              <a:srgbClr val="1C7293"/>
            </a:solidFill>
            <a:ln/>
          </p:spPr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D29478-F21D-91C4-C1B0-EA256AD9AB7C}"/>
              </a:ext>
            </a:extLst>
          </p:cNvPr>
          <p:cNvGrpSpPr/>
          <p:nvPr/>
        </p:nvGrpSpPr>
        <p:grpSpPr>
          <a:xfrm>
            <a:off x="8353843" y="1790337"/>
            <a:ext cx="2542032" cy="4114800"/>
            <a:chOff x="8513499" y="1783080"/>
            <a:chExt cx="2542032" cy="41148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AEDF64A-0ABE-396D-52CD-DE3A838B15DD}"/>
                </a:ext>
              </a:extLst>
            </p:cNvPr>
            <p:cNvGrpSpPr/>
            <p:nvPr/>
          </p:nvGrpSpPr>
          <p:grpSpPr>
            <a:xfrm>
              <a:off x="8513499" y="1783080"/>
              <a:ext cx="2542032" cy="4114800"/>
              <a:chOff x="6053328" y="1783080"/>
              <a:chExt cx="2542032" cy="4114800"/>
            </a:xfrm>
          </p:grpSpPr>
          <p:sp>
            <p:nvSpPr>
              <p:cNvPr id="16" name="Shape 14">
                <a:extLst>
                  <a:ext uri="{FF2B5EF4-FFF2-40B4-BE49-F238E27FC236}">
                    <a16:creationId xmlns:a16="http://schemas.microsoft.com/office/drawing/2014/main" id="{EAA3A288-F6D3-C935-B397-4D024C1E6D1F}"/>
                  </a:ext>
                </a:extLst>
              </p:cNvPr>
              <p:cNvSpPr/>
              <p:nvPr/>
            </p:nvSpPr>
            <p:spPr>
              <a:xfrm>
                <a:off x="6053328" y="1783080"/>
                <a:ext cx="2542032" cy="4114800"/>
              </a:xfrm>
              <a:prstGeom prst="roundRect">
                <a:avLst>
                  <a:gd name="adj" fmla="val 2878"/>
                </a:avLst>
              </a:prstGeom>
              <a:solidFill>
                <a:srgbClr val="FFFFFF"/>
              </a:solidFill>
              <a:ln/>
              <a:effectLst>
                <a:outerShdw blurRad="101600" dist="38100" dir="5400000" algn="bl" rotWithShape="0">
                  <a:srgbClr val="0B1E3D">
                    <a:alpha val="10000"/>
                  </a:srgbClr>
                </a:outerShdw>
              </a:effectLst>
            </p:spPr>
          </p:sp>
          <p:sp>
            <p:nvSpPr>
              <p:cNvPr id="17" name="Shape 15">
                <a:extLst>
                  <a:ext uri="{FF2B5EF4-FFF2-40B4-BE49-F238E27FC236}">
                    <a16:creationId xmlns:a16="http://schemas.microsoft.com/office/drawing/2014/main" id="{E73148F8-BCC9-072E-E37C-FE28F080A67C}"/>
                  </a:ext>
                </a:extLst>
              </p:cNvPr>
              <p:cNvSpPr/>
              <p:nvPr/>
            </p:nvSpPr>
            <p:spPr>
              <a:xfrm>
                <a:off x="6890004" y="2057400"/>
                <a:ext cx="868680" cy="868680"/>
              </a:xfrm>
              <a:prstGeom prst="ellipse">
                <a:avLst/>
              </a:prstGeom>
              <a:solidFill>
                <a:srgbClr val="0B1E3D"/>
              </a:solidFill>
              <a:ln/>
            </p:spPr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8C093D14-FB51-C472-3BA9-EF38139FE42C}"/>
                  </a:ext>
                </a:extLst>
              </p:cNvPr>
              <p:cNvSpPr/>
              <p:nvPr/>
            </p:nvSpPr>
            <p:spPr>
              <a:xfrm>
                <a:off x="6890004" y="205740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3</a:t>
                </a:r>
                <a:endParaRPr lang="en-US" sz="28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DEDD83A3-E30E-BC6D-5BBD-CE00FA3AB41D}"/>
                  </a:ext>
                </a:extLst>
              </p:cNvPr>
              <p:cNvSpPr/>
              <p:nvPr/>
            </p:nvSpPr>
            <p:spPr>
              <a:xfrm>
                <a:off x="6236208" y="3154680"/>
                <a:ext cx="2176272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1550" b="1" dirty="0">
                    <a:solidFill>
                      <a:srgbClr val="0B1E3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 Encryption</a:t>
                </a:r>
                <a:endParaRPr lang="en-US" sz="1550" dirty="0"/>
              </a:p>
            </p:txBody>
          </p:sp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DF7E4B5D-DA08-925A-1236-AE7F5F615B7C}"/>
                  </a:ext>
                </a:extLst>
              </p:cNvPr>
              <p:cNvSpPr/>
              <p:nvPr/>
            </p:nvSpPr>
            <p:spPr>
              <a:xfrm>
                <a:off x="6236208" y="3840480"/>
                <a:ext cx="2176272" cy="1874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5000"/>
                  </a:lnSpc>
                  <a:buNone/>
                </a:pPr>
                <a:r>
                  <a:rPr lang="en-US" sz="1200" dirty="0">
                    <a:solidFill>
                      <a:srgbClr val="44546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AES-256 uses that shared key to encrypt the patient's health data into unreadable ciphertext.</a:t>
                </a:r>
                <a:endParaRPr lang="en-US" sz="1200" dirty="0"/>
              </a:p>
            </p:txBody>
          </p:sp>
        </p:grp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4417F89E-2C37-F8D5-DC53-CD0291E059D1}"/>
                </a:ext>
              </a:extLst>
            </p:cNvPr>
            <p:cNvSpPr/>
            <p:nvPr/>
          </p:nvSpPr>
          <p:spPr>
            <a:xfrm>
              <a:off x="8545866" y="4069080"/>
              <a:ext cx="292608" cy="292608"/>
            </a:xfrm>
            <a:prstGeom prst="ellipse">
              <a:avLst/>
            </a:prstGeom>
            <a:solidFill>
              <a:srgbClr val="1C7293"/>
            </a:solidFill>
            <a:ln/>
          </p:spPr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C258DA6-1DF7-6683-B7A1-01769B95A2EA}"/>
              </a:ext>
            </a:extLst>
          </p:cNvPr>
          <p:cNvGrpSpPr/>
          <p:nvPr/>
        </p:nvGrpSpPr>
        <p:grpSpPr>
          <a:xfrm>
            <a:off x="8556753" y="1812108"/>
            <a:ext cx="2542032" cy="4114800"/>
            <a:chOff x="4463723" y="360680"/>
            <a:chExt cx="2542032" cy="4114800"/>
          </a:xfrm>
        </p:grpSpPr>
        <p:sp>
          <p:nvSpPr>
            <p:cNvPr id="41" name="Shape 20">
              <a:extLst>
                <a:ext uri="{FF2B5EF4-FFF2-40B4-BE49-F238E27FC236}">
                  <a16:creationId xmlns:a16="http://schemas.microsoft.com/office/drawing/2014/main" id="{A2D1FFEC-C6B5-74D4-3256-B546630BF62D}"/>
                </a:ext>
              </a:extLst>
            </p:cNvPr>
            <p:cNvSpPr/>
            <p:nvPr/>
          </p:nvSpPr>
          <p:spPr>
            <a:xfrm>
              <a:off x="4463723" y="360680"/>
              <a:ext cx="2542032" cy="4114800"/>
            </a:xfrm>
            <a:prstGeom prst="roundRect">
              <a:avLst>
                <a:gd name="adj" fmla="val 2878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B1E3D">
                  <a:alpha val="10000"/>
                </a:srgbClr>
              </a:outerShdw>
            </a:effectLst>
          </p:spPr>
        </p:sp>
        <p:sp>
          <p:nvSpPr>
            <p:cNvPr id="42" name="Shape 21">
              <a:extLst>
                <a:ext uri="{FF2B5EF4-FFF2-40B4-BE49-F238E27FC236}">
                  <a16:creationId xmlns:a16="http://schemas.microsoft.com/office/drawing/2014/main" id="{AC82E995-03AC-2C69-97B6-A8B7E2F4E55E}"/>
                </a:ext>
              </a:extLst>
            </p:cNvPr>
            <p:cNvSpPr/>
            <p:nvPr/>
          </p:nvSpPr>
          <p:spPr>
            <a:xfrm>
              <a:off x="5300399" y="635000"/>
              <a:ext cx="868680" cy="868680"/>
            </a:xfrm>
            <a:prstGeom prst="ellipse">
              <a:avLst/>
            </a:prstGeom>
            <a:solidFill>
              <a:srgbClr val="F25C54"/>
            </a:solidFill>
            <a:ln/>
          </p:spPr>
        </p:sp>
        <p:sp>
          <p:nvSpPr>
            <p:cNvPr id="43" name="Text 22">
              <a:extLst>
                <a:ext uri="{FF2B5EF4-FFF2-40B4-BE49-F238E27FC236}">
                  <a16:creationId xmlns:a16="http://schemas.microsoft.com/office/drawing/2014/main" id="{FBDB58F1-400D-48EB-4344-E90BD9B44D36}"/>
                </a:ext>
              </a:extLst>
            </p:cNvPr>
            <p:cNvSpPr/>
            <p:nvPr/>
          </p:nvSpPr>
          <p:spPr>
            <a:xfrm>
              <a:off x="5300399" y="63500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2800" dirty="0"/>
            </a:p>
          </p:txBody>
        </p:sp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56FA25AA-584A-B8BC-A55A-710527A63FFC}"/>
                </a:ext>
              </a:extLst>
            </p:cNvPr>
            <p:cNvSpPr/>
            <p:nvPr/>
          </p:nvSpPr>
          <p:spPr>
            <a:xfrm>
              <a:off x="4646603" y="1732280"/>
              <a:ext cx="2176272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50" b="1" dirty="0">
                  <a:solidFill>
                    <a:srgbClr val="0B1E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Authorized Decryption</a:t>
              </a:r>
              <a:endParaRPr lang="en-US" sz="1550" dirty="0"/>
            </a:p>
          </p:txBody>
        </p:sp>
        <p:sp>
          <p:nvSpPr>
            <p:cNvPr id="45" name="Text 24">
              <a:extLst>
                <a:ext uri="{FF2B5EF4-FFF2-40B4-BE49-F238E27FC236}">
                  <a16:creationId xmlns:a16="http://schemas.microsoft.com/office/drawing/2014/main" id="{AA3DD2E8-38BA-C499-07F9-702F6C8D27B5}"/>
                </a:ext>
              </a:extLst>
            </p:cNvPr>
            <p:cNvSpPr/>
            <p:nvPr/>
          </p:nvSpPr>
          <p:spPr>
            <a:xfrm>
              <a:off x="4646603" y="2418080"/>
              <a:ext cx="2176272" cy="1874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2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Only someone holding the correct key</a:t>
              </a:r>
              <a:r>
                <a:rPr lang="en-US" sz="1200" i="1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 </a:t>
              </a:r>
              <a:br>
                <a:rPr lang="en-US" sz="1200" i="1" dirty="0">
                  <a:latin typeface="Calibri"/>
                  <a:ea typeface="Calibri"/>
                  <a:cs typeface="Calibri"/>
                </a:rPr>
              </a:br>
              <a:r>
                <a:rPr lang="en-US" sz="1200" i="1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(e.g. the treating doctor)</a:t>
              </a:r>
              <a:r>
                <a:rPr lang="en-US" sz="12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 can reverse AES to recover the original data.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043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A54BA-4AD8-90C9-D8DE-6A2DA5EA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5C10A7-676A-0726-16ED-060A1C01D484}"/>
              </a:ext>
            </a:extLst>
          </p:cNvPr>
          <p:cNvSpPr/>
          <p:nvPr/>
        </p:nvSpPr>
        <p:spPr>
          <a:xfrm>
            <a:off x="574766" y="457200"/>
            <a:ext cx="6553200" cy="599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/>
                <a:ea typeface="Cambria"/>
                <a:cs typeface="Cambria" pitchFamily="34" charset="-120"/>
              </a:rPr>
              <a:t>How It Works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1DFE28-1F7E-3235-42B9-02461ABAD158}"/>
              </a:ext>
            </a:extLst>
          </p:cNvPr>
          <p:cNvSpPr/>
          <p:nvPr/>
        </p:nvSpPr>
        <p:spPr>
          <a:xfrm>
            <a:off x="574766" y="1060123"/>
            <a:ext cx="6241143" cy="3367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Four steps from raw patient data to secure cloud storage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610AB7-D332-2182-39FE-CFED134D8C24}"/>
              </a:ext>
            </a:extLst>
          </p:cNvPr>
          <p:cNvGrpSpPr/>
          <p:nvPr/>
        </p:nvGrpSpPr>
        <p:grpSpPr>
          <a:xfrm>
            <a:off x="734424" y="1833879"/>
            <a:ext cx="2727089" cy="4114800"/>
            <a:chOff x="7984309" y="1783080"/>
            <a:chExt cx="2727089" cy="411480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A75A9CB-C142-C1F2-76CE-2C7AD0355091}"/>
                </a:ext>
              </a:extLst>
            </p:cNvPr>
            <p:cNvSpPr/>
            <p:nvPr/>
          </p:nvSpPr>
          <p:spPr>
            <a:xfrm>
              <a:off x="7984309" y="1783080"/>
              <a:ext cx="2542032" cy="4114800"/>
            </a:xfrm>
            <a:prstGeom prst="roundRect">
              <a:avLst>
                <a:gd name="adj" fmla="val 2878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B1E3D">
                  <a:alpha val="10000"/>
                </a:srgbClr>
              </a:outerShdw>
            </a:effectLst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9A04F23-245F-70BE-4F87-54BA7C287551}"/>
                </a:ext>
              </a:extLst>
            </p:cNvPr>
            <p:cNvSpPr/>
            <p:nvPr/>
          </p:nvSpPr>
          <p:spPr>
            <a:xfrm>
              <a:off x="8820985" y="2057400"/>
              <a:ext cx="868680" cy="868680"/>
            </a:xfrm>
            <a:prstGeom prst="ellipse">
              <a:avLst/>
            </a:prstGeom>
            <a:solidFill>
              <a:srgbClr val="0B1E3D"/>
            </a:solidFill>
            <a:ln/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89C27735-2B31-6AD5-813E-089539CC44D7}"/>
                </a:ext>
              </a:extLst>
            </p:cNvPr>
            <p:cNvSpPr/>
            <p:nvPr/>
          </p:nvSpPr>
          <p:spPr>
            <a:xfrm>
              <a:off x="8820985" y="205740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28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1E70A350-0663-BE4E-6091-D1BE1722AE87}"/>
                </a:ext>
              </a:extLst>
            </p:cNvPr>
            <p:cNvSpPr/>
            <p:nvPr/>
          </p:nvSpPr>
          <p:spPr>
            <a:xfrm>
              <a:off x="8167189" y="3154680"/>
              <a:ext cx="2176272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50" b="1" dirty="0">
                  <a:solidFill>
                    <a:srgbClr val="0B1E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Generation</a:t>
              </a:r>
              <a:endParaRPr lang="en-US" sz="155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436B1973-D939-9C3C-AEB5-F60AD04A4912}"/>
                </a:ext>
              </a:extLst>
            </p:cNvPr>
            <p:cNvSpPr/>
            <p:nvPr/>
          </p:nvSpPr>
          <p:spPr>
            <a:xfrm>
              <a:off x="8167189" y="3840480"/>
              <a:ext cx="2176272" cy="1874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ECC generates a public/private key pair for each party (patient, doctor, cloud).</a:t>
              </a:r>
              <a:endParaRPr lang="en-US" sz="1600">
                <a:ea typeface="Calibri"/>
                <a:cs typeface="Calibri"/>
              </a:endParaRP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E102CFAB-D7ED-05C3-A049-005BFC5FE0BA}"/>
                </a:ext>
              </a:extLst>
            </p:cNvPr>
            <p:cNvSpPr/>
            <p:nvPr/>
          </p:nvSpPr>
          <p:spPr>
            <a:xfrm>
              <a:off x="10418790" y="4069080"/>
              <a:ext cx="292608" cy="292608"/>
            </a:xfrm>
            <a:prstGeom prst="ellipse">
              <a:avLst/>
            </a:prstGeom>
            <a:solidFill>
              <a:srgbClr val="1C7293"/>
            </a:solidFill>
            <a:ln/>
          </p:spPr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0D1378B-3ABD-44E0-88B3-8E352AEB5333}"/>
              </a:ext>
            </a:extLst>
          </p:cNvPr>
          <p:cNvGrpSpPr/>
          <p:nvPr/>
        </p:nvGrpSpPr>
        <p:grpSpPr>
          <a:xfrm>
            <a:off x="3448303" y="1826623"/>
            <a:ext cx="2705318" cy="4114800"/>
            <a:chOff x="8252532" y="1783080"/>
            <a:chExt cx="2705318" cy="41148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37D5522-62E9-4F8F-7D46-4CDCC6CD0ADE}"/>
                </a:ext>
              </a:extLst>
            </p:cNvPr>
            <p:cNvSpPr/>
            <p:nvPr/>
          </p:nvSpPr>
          <p:spPr>
            <a:xfrm>
              <a:off x="8252532" y="1783080"/>
              <a:ext cx="2542032" cy="4114800"/>
            </a:xfrm>
            <a:prstGeom prst="roundRect">
              <a:avLst>
                <a:gd name="adj" fmla="val 2878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B1E3D">
                  <a:alpha val="10000"/>
                </a:srgbClr>
              </a:outerShdw>
            </a:effectLst>
          </p:spPr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933E06BD-4EBF-3FBB-B8F8-225500CDF0EC}"/>
                </a:ext>
              </a:extLst>
            </p:cNvPr>
            <p:cNvSpPr/>
            <p:nvPr/>
          </p:nvSpPr>
          <p:spPr>
            <a:xfrm>
              <a:off x="9074694" y="2057400"/>
              <a:ext cx="868680" cy="868680"/>
            </a:xfrm>
            <a:prstGeom prst="ellipse">
              <a:avLst/>
            </a:prstGeom>
            <a:solidFill>
              <a:srgbClr val="0B1E3D"/>
            </a:solidFill>
            <a:ln/>
          </p:spPr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DCC5388-DDF6-F437-3672-14A0A760E60B}"/>
                </a:ext>
              </a:extLst>
            </p:cNvPr>
            <p:cNvSpPr/>
            <p:nvPr/>
          </p:nvSpPr>
          <p:spPr>
            <a:xfrm>
              <a:off x="9074694" y="205740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28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D38EC01-4372-7869-89D1-AC641C8D7E65}"/>
                </a:ext>
              </a:extLst>
            </p:cNvPr>
            <p:cNvSpPr/>
            <p:nvPr/>
          </p:nvSpPr>
          <p:spPr>
            <a:xfrm>
              <a:off x="8420898" y="3154680"/>
              <a:ext cx="2176272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50" b="1" dirty="0">
                  <a:solidFill>
                    <a:srgbClr val="0B1E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Secure Key Exchange</a:t>
              </a:r>
              <a:endParaRPr lang="en-US" sz="155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15F5C7BB-91AB-E871-67A0-6B5747C9C320}"/>
                </a:ext>
              </a:extLst>
            </p:cNvPr>
            <p:cNvSpPr/>
            <p:nvPr/>
          </p:nvSpPr>
          <p:spPr>
            <a:xfrm>
              <a:off x="8420898" y="3840480"/>
              <a:ext cx="2176272" cy="1874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Using ECDH, both sides derive the same shared secret </a:t>
              </a:r>
              <a:r>
                <a:rPr lang="en-US" sz="160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key </a:t>
              </a:r>
              <a:br>
                <a:rPr lang="en-US" sz="16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</a:br>
              <a:endParaRPr lang="en-US" sz="1600" dirty="0">
                <a:solidFill>
                  <a:srgbClr val="44546A"/>
                </a:solidFill>
                <a:latin typeface="Calibri"/>
                <a:ea typeface="Calibri"/>
                <a:cs typeface="Calibri"/>
              </a:endParaRPr>
            </a:p>
            <a:p>
              <a:r>
                <a:rPr lang="en-US" sz="160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Without ever transmitting it directly.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6479BDFE-DC25-FAAD-67D5-AC87CE535492}"/>
                </a:ext>
              </a:extLst>
            </p:cNvPr>
            <p:cNvSpPr/>
            <p:nvPr/>
          </p:nvSpPr>
          <p:spPr>
            <a:xfrm>
              <a:off x="10665242" y="4156166"/>
              <a:ext cx="292608" cy="292608"/>
            </a:xfrm>
            <a:prstGeom prst="ellipse">
              <a:avLst/>
            </a:prstGeom>
            <a:solidFill>
              <a:srgbClr val="1C7293"/>
            </a:solidFill>
            <a:ln/>
          </p:spPr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BF177D-4E75-09D9-8CD3-24C2E1C2A133}"/>
              </a:ext>
            </a:extLst>
          </p:cNvPr>
          <p:cNvGrpSpPr/>
          <p:nvPr/>
        </p:nvGrpSpPr>
        <p:grpSpPr>
          <a:xfrm>
            <a:off x="6154928" y="1826622"/>
            <a:ext cx="2690804" cy="4114800"/>
            <a:chOff x="5734014" y="1812108"/>
            <a:chExt cx="2690804" cy="41148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92DE2FA-0E6F-890F-C878-8F8009C903C2}"/>
                </a:ext>
              </a:extLst>
            </p:cNvPr>
            <p:cNvGrpSpPr/>
            <p:nvPr/>
          </p:nvGrpSpPr>
          <p:grpSpPr>
            <a:xfrm>
              <a:off x="5734014" y="1812108"/>
              <a:ext cx="2542032" cy="4114800"/>
              <a:chOff x="6053328" y="1783080"/>
              <a:chExt cx="2542032" cy="4114800"/>
            </a:xfrm>
          </p:grpSpPr>
          <p:sp>
            <p:nvSpPr>
              <p:cNvPr id="16" name="Shape 14">
                <a:extLst>
                  <a:ext uri="{FF2B5EF4-FFF2-40B4-BE49-F238E27FC236}">
                    <a16:creationId xmlns:a16="http://schemas.microsoft.com/office/drawing/2014/main" id="{824AA76B-3CC3-16B1-99B2-12281E958FC1}"/>
                  </a:ext>
                </a:extLst>
              </p:cNvPr>
              <p:cNvSpPr/>
              <p:nvPr/>
            </p:nvSpPr>
            <p:spPr>
              <a:xfrm>
                <a:off x="6053328" y="1783080"/>
                <a:ext cx="2542032" cy="4114800"/>
              </a:xfrm>
              <a:prstGeom prst="roundRect">
                <a:avLst>
                  <a:gd name="adj" fmla="val 2878"/>
                </a:avLst>
              </a:prstGeom>
              <a:solidFill>
                <a:srgbClr val="FFFFFF"/>
              </a:solidFill>
              <a:ln/>
              <a:effectLst>
                <a:outerShdw blurRad="101600" dist="38100" dir="5400000" algn="bl" rotWithShape="0">
                  <a:srgbClr val="0B1E3D">
                    <a:alpha val="10000"/>
                  </a:srgbClr>
                </a:outerShdw>
              </a:effectLst>
            </p:spPr>
          </p:sp>
          <p:sp>
            <p:nvSpPr>
              <p:cNvPr id="17" name="Shape 15">
                <a:extLst>
                  <a:ext uri="{FF2B5EF4-FFF2-40B4-BE49-F238E27FC236}">
                    <a16:creationId xmlns:a16="http://schemas.microsoft.com/office/drawing/2014/main" id="{F191AE11-2D8A-1CB5-DF62-8F237918E3E0}"/>
                  </a:ext>
                </a:extLst>
              </p:cNvPr>
              <p:cNvSpPr/>
              <p:nvPr/>
            </p:nvSpPr>
            <p:spPr>
              <a:xfrm>
                <a:off x="6890004" y="2057400"/>
                <a:ext cx="868680" cy="868680"/>
              </a:xfrm>
              <a:prstGeom prst="ellipse">
                <a:avLst/>
              </a:prstGeom>
              <a:solidFill>
                <a:srgbClr val="0B1E3D"/>
              </a:solidFill>
              <a:ln/>
            </p:spPr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63948B7E-D0BB-1B55-DB08-AAE79453CBA2}"/>
                  </a:ext>
                </a:extLst>
              </p:cNvPr>
              <p:cNvSpPr/>
              <p:nvPr/>
            </p:nvSpPr>
            <p:spPr>
              <a:xfrm>
                <a:off x="6890004" y="2057400"/>
                <a:ext cx="86868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3</a:t>
                </a:r>
                <a:endParaRPr lang="en-US" sz="2800" dirty="0"/>
              </a:p>
            </p:txBody>
          </p:sp>
          <p:sp>
            <p:nvSpPr>
              <p:cNvPr id="19" name="Text 17">
                <a:extLst>
                  <a:ext uri="{FF2B5EF4-FFF2-40B4-BE49-F238E27FC236}">
                    <a16:creationId xmlns:a16="http://schemas.microsoft.com/office/drawing/2014/main" id="{BC52E29E-0A85-E6BF-DBC7-03D4B8CCE828}"/>
                  </a:ext>
                </a:extLst>
              </p:cNvPr>
              <p:cNvSpPr/>
              <p:nvPr/>
            </p:nvSpPr>
            <p:spPr>
              <a:xfrm>
                <a:off x="6236208" y="3154680"/>
                <a:ext cx="2176272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1550" b="1" dirty="0">
                    <a:solidFill>
                      <a:srgbClr val="0B1E3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 Encryption</a:t>
                </a:r>
                <a:endParaRPr lang="en-US" sz="1550" dirty="0"/>
              </a:p>
            </p:txBody>
          </p:sp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259F0F51-E2A4-244A-40EE-B5D439B0476B}"/>
                  </a:ext>
                </a:extLst>
              </p:cNvPr>
              <p:cNvSpPr/>
              <p:nvPr/>
            </p:nvSpPr>
            <p:spPr>
              <a:xfrm>
                <a:off x="6236208" y="3840480"/>
                <a:ext cx="2176272" cy="187452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/>
              <a:p>
                <a:pPr marL="0" indent="0">
                  <a:buNone/>
                </a:pPr>
                <a:r>
                  <a:rPr lang="en-US" sz="1600" dirty="0">
                    <a:solidFill>
                      <a:srgbClr val="44546A"/>
                    </a:solidFill>
                    <a:latin typeface="Calibri"/>
                    <a:ea typeface="Calibri"/>
                    <a:cs typeface="Calibri"/>
                  </a:rPr>
                  <a:t>AES-256 uses that shared key to encrypt the patient's health data into unreadable ciphertext.</a:t>
                </a:r>
                <a:endParaRPr lang="en-US" sz="1600"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D3C9B359-E829-8EB1-E6D6-75D94CF1B9C7}"/>
                </a:ext>
              </a:extLst>
            </p:cNvPr>
            <p:cNvSpPr/>
            <p:nvPr/>
          </p:nvSpPr>
          <p:spPr>
            <a:xfrm>
              <a:off x="8132210" y="4098108"/>
              <a:ext cx="292608" cy="292608"/>
            </a:xfrm>
            <a:prstGeom prst="ellipse">
              <a:avLst/>
            </a:prstGeom>
            <a:solidFill>
              <a:srgbClr val="1C7293"/>
            </a:solidFill>
            <a:ln/>
          </p:spPr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0F8F0B-DE43-D647-6C06-3D5D8476D03F}"/>
              </a:ext>
            </a:extLst>
          </p:cNvPr>
          <p:cNvGrpSpPr/>
          <p:nvPr/>
        </p:nvGrpSpPr>
        <p:grpSpPr>
          <a:xfrm>
            <a:off x="8832524" y="1826622"/>
            <a:ext cx="2542032" cy="4114800"/>
            <a:chOff x="4463723" y="360680"/>
            <a:chExt cx="2542032" cy="4114800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E7395944-3949-A669-20E3-D04D988F96EB}"/>
                </a:ext>
              </a:extLst>
            </p:cNvPr>
            <p:cNvSpPr/>
            <p:nvPr/>
          </p:nvSpPr>
          <p:spPr>
            <a:xfrm>
              <a:off x="4463723" y="360680"/>
              <a:ext cx="2542032" cy="4114800"/>
            </a:xfrm>
            <a:prstGeom prst="roundRect">
              <a:avLst>
                <a:gd name="adj" fmla="val 2878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B1E3D">
                  <a:alpha val="10000"/>
                </a:srgbClr>
              </a:outerShdw>
            </a:effectLst>
          </p:spPr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151C7374-D257-5747-4F0C-66D059CEDB8A}"/>
                </a:ext>
              </a:extLst>
            </p:cNvPr>
            <p:cNvSpPr/>
            <p:nvPr/>
          </p:nvSpPr>
          <p:spPr>
            <a:xfrm>
              <a:off x="5300399" y="635000"/>
              <a:ext cx="868680" cy="868680"/>
            </a:xfrm>
            <a:prstGeom prst="ellipse">
              <a:avLst/>
            </a:prstGeom>
            <a:solidFill>
              <a:srgbClr val="F25C54"/>
            </a:solidFill>
            <a:ln/>
          </p:spPr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6B3F0603-1072-1700-99FF-D3D6012D585C}"/>
                </a:ext>
              </a:extLst>
            </p:cNvPr>
            <p:cNvSpPr/>
            <p:nvPr/>
          </p:nvSpPr>
          <p:spPr>
            <a:xfrm>
              <a:off x="5300399" y="635000"/>
              <a:ext cx="8686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endParaRPr lang="en-US" sz="28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2638114A-E912-1F27-B56F-58628AA94E51}"/>
                </a:ext>
              </a:extLst>
            </p:cNvPr>
            <p:cNvSpPr/>
            <p:nvPr/>
          </p:nvSpPr>
          <p:spPr>
            <a:xfrm>
              <a:off x="4646603" y="1732280"/>
              <a:ext cx="2176272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50" b="1" dirty="0">
                  <a:solidFill>
                    <a:srgbClr val="0B1E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Authorized Decryption</a:t>
              </a:r>
              <a:endParaRPr lang="en-US" sz="155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88F447AB-4574-A8B2-E13A-725AEB73FAC6}"/>
                </a:ext>
              </a:extLst>
            </p:cNvPr>
            <p:cNvSpPr/>
            <p:nvPr/>
          </p:nvSpPr>
          <p:spPr>
            <a:xfrm>
              <a:off x="4646603" y="2418080"/>
              <a:ext cx="2176272" cy="1874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Only someone holding the correct key</a:t>
              </a:r>
              <a:r>
                <a:rPr lang="en-US" sz="1600" i="1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 </a:t>
              </a:r>
              <a:br>
                <a:rPr lang="en-US" sz="1600" i="1" dirty="0">
                  <a:latin typeface="Calibri"/>
                  <a:ea typeface="Calibri"/>
                  <a:cs typeface="Calibri"/>
                </a:rPr>
              </a:br>
              <a:r>
                <a:rPr lang="en-US" sz="1600" i="1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(e.g. the treating doctor)</a:t>
              </a:r>
              <a:r>
                <a:rPr lang="en-US" sz="1600" dirty="0">
                  <a:solidFill>
                    <a:srgbClr val="44546A"/>
                  </a:solidFill>
                  <a:latin typeface="Calibri"/>
                  <a:ea typeface="Calibri"/>
                  <a:cs typeface="Calibri"/>
                </a:rPr>
                <a:t> can reverse AES to recover the original data.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92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modules, one shared encryption layer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3122748" y="196596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200" y="21625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8691" y="2326640"/>
            <a:ext cx="28803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User Module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8691" y="2887617"/>
            <a:ext cx="3141617" cy="14405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Patients log in securely, browse doctors, </a:t>
            </a: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and view their encrypted health reports, decrypted only at the point of </a:t>
            </a: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authorized access.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A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899220" y="196596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72" y="216255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5163" y="2326640"/>
            <a:ext cx="28803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Doctor Module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55163" y="2887617"/>
            <a:ext cx="3141617" cy="14405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Doctors securely decrypt and </a:t>
            </a: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review patient records. 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400" dirty="0">
              <a:solidFill>
                <a:srgbClr val="44546A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They encrypt treatment </a:t>
            </a: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recommendations before they're stored.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A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10675692" y="196596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144" y="216255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1635" y="2326640"/>
            <a:ext cx="28803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E3D"/>
                </a:solidFill>
                <a:latin typeface="Calibri"/>
                <a:ea typeface="Calibri"/>
                <a:cs typeface="Calibri"/>
              </a:rPr>
              <a:t>Cloud Module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331635" y="2887617"/>
            <a:ext cx="3141617" cy="14405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Central encrypted repository. 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400" dirty="0">
              <a:solidFill>
                <a:srgbClr val="44546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Every </a:t>
            </a: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record (credentials, reports, </a:t>
            </a: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recommendations) is protected at rest </a:t>
            </a: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and in transit.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ABBC4689-E2BA-F8D7-D4FC-52C3A9219689}"/>
              </a:ext>
            </a:extLst>
          </p:cNvPr>
          <p:cNvSpPr/>
          <p:nvPr/>
        </p:nvSpPr>
        <p:spPr>
          <a:xfrm>
            <a:off x="648060" y="4815114"/>
            <a:ext cx="11042470" cy="1232264"/>
          </a:xfrm>
          <a:prstGeom prst="roundRect">
            <a:avLst>
              <a:gd name="adj" fmla="val 3478"/>
            </a:avLst>
          </a:prstGeom>
          <a:solidFill>
            <a:srgbClr val="0B1E3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120640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37360" y="4800600"/>
            <a:ext cx="950976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4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All three modules route data through the same </a:t>
            </a:r>
            <a:r>
              <a:rPr lang="en-US" sz="14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SymECCipher</a:t>
            </a:r>
            <a:r>
              <a:rPr lang="en-US" sz="14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layer. ECC for key exchange, AES-256 for the actual data, end to end.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">
            <a:extLst>
              <a:ext uri="{FF2B5EF4-FFF2-40B4-BE49-F238E27FC236}">
                <a16:creationId xmlns:a16="http://schemas.microsoft.com/office/drawing/2014/main" id="{4A224D1B-1E0F-03C2-AAC7-3100E5B3FF07}"/>
              </a:ext>
            </a:extLst>
          </p:cNvPr>
          <p:cNvSpPr/>
          <p:nvPr/>
        </p:nvSpPr>
        <p:spPr>
          <a:xfrm>
            <a:off x="183603" y="228600"/>
            <a:ext cx="11826240" cy="6413863"/>
          </a:xfrm>
          <a:prstGeom prst="roundRect">
            <a:avLst>
              <a:gd name="adj" fmla="val 3478"/>
            </a:avLst>
          </a:prstGeom>
          <a:solidFill>
            <a:srgbClr val="071529"/>
          </a:solidFill>
          <a:ln/>
        </p:spPr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0F59781-296E-4426-E06E-6F4B59568B0D}"/>
              </a:ext>
            </a:extLst>
          </p:cNvPr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It's Faster, Not Just Safer</a:t>
            </a:r>
            <a:endParaRPr lang="en-US" sz="30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72CB346-AD98-913D-0A64-DCE68A655971}"/>
              </a:ext>
            </a:extLst>
          </p:cNvPr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and decryption time compared to existing models</a:t>
            </a:r>
            <a:endParaRPr lang="en-US" sz="15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8A1CA0F7-BC10-AED4-BB29-9F4EF234D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6015346"/>
              </p:ext>
            </p:extLst>
          </p:nvPr>
        </p:nvGraphicFramePr>
        <p:xfrm>
          <a:off x="531223" y="1774106"/>
          <a:ext cx="6760755" cy="4405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F17B7215-332B-756B-95DD-4ED98E2C08E0}"/>
              </a:ext>
            </a:extLst>
          </p:cNvPr>
          <p:cNvSpPr/>
          <p:nvPr/>
        </p:nvSpPr>
        <p:spPr>
          <a:xfrm>
            <a:off x="7818120" y="16002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F25C54"/>
          </a:solidFill>
          <a:ln/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F2A7053-DE92-E9E3-E94C-6F600E2D2356}"/>
              </a:ext>
            </a:extLst>
          </p:cNvPr>
          <p:cNvSpPr/>
          <p:nvPr/>
        </p:nvSpPr>
        <p:spPr>
          <a:xfrm>
            <a:off x="7818120" y="1783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5ms / 4ms</a:t>
            </a:r>
            <a:endParaRPr lang="en-US" sz="3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9CA68FD-A18A-F788-ED6A-6CCD14C5621F}"/>
              </a:ext>
            </a:extLst>
          </p:cNvPr>
          <p:cNvSpPr/>
          <p:nvPr/>
        </p:nvSpPr>
        <p:spPr>
          <a:xfrm>
            <a:off x="8092440" y="2514600"/>
            <a:ext cx="32004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SymECCipher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encryption / decryption time the fastest of every model tested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517FBA80-E3EC-048D-5BF6-5C66908772E1}"/>
              </a:ext>
            </a:extLst>
          </p:cNvPr>
          <p:cNvSpPr/>
          <p:nvPr/>
        </p:nvSpPr>
        <p:spPr>
          <a:xfrm>
            <a:off x="7818120" y="388620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F8ADF97-3BCB-5B56-6860-727CDD74098A}"/>
              </a:ext>
            </a:extLst>
          </p:cNvPr>
          <p:cNvSpPr/>
          <p:nvPr/>
        </p:nvSpPr>
        <p:spPr>
          <a:xfrm>
            <a:off x="7818120" y="4069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25–40%</a:t>
            </a:r>
            <a:endParaRPr lang="en-US" sz="3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36E6963-91AE-E129-5B59-F0D5779AD125}"/>
              </a:ext>
            </a:extLst>
          </p:cNvPr>
          <p:cNvSpPr/>
          <p:nvPr/>
        </p:nvSpPr>
        <p:spPr>
          <a:xfrm>
            <a:off x="8092440" y="4800600"/>
            <a:ext cx="32004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Reduction in computational overhead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versus traditional cryptosystems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03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Novel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contributions beyond prior hybrid encryption models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key exchange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3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Uses ECC instead of RSA </a:t>
            </a:r>
            <a:br>
              <a:rPr lang="en-US" sz="13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</a:br>
            <a:r>
              <a:rPr lang="en-US" sz="13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Faster setup, smaller keys, same </a:t>
            </a:r>
            <a:r>
              <a:rPr lang="en-US" sz="13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cryptographic strength.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65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security-speed trade-off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3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Achieves both strong protection AND high speed .</a:t>
            </a:r>
            <a:br>
              <a:rPr lang="en-US" sz="13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</a:br>
            <a:r>
              <a:rPr lang="en-US" sz="13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Prior hybrid models struggled to balance both.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434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4988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97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cloud scale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5120640"/>
            <a:ext cx="48463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Designed specifically for high-throughput, low-latency cloud </a:t>
            </a:r>
            <a:r>
              <a:rPr lang="en-US" sz="13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healthcare systems.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3434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4988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97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AI outputs too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37960" y="5120640"/>
            <a:ext cx="48463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Encrypts ML-generated depression risk scores before cloud storage.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model like SymECCipher matters beyond the lab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96596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76" y="21625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platforms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Real-time consultations need </a:t>
            </a:r>
            <a:r>
              <a:rPr lang="en-US" sz="140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encryption that doesn't introduce lag .</a:t>
            </a:r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8152" y="196596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21625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(EHRs)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90872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Hospitals storing decades of patient history need encryption that scales without slowing retrieval.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E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64624" y="1965960"/>
            <a:ext cx="777240" cy="777240"/>
          </a:xfrm>
          <a:prstGeom prst="ellipse">
            <a:avLst/>
          </a:prstGeom>
          <a:solidFill>
            <a:srgbClr val="0B1E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220" y="21625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diagnostics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67344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As ML diagnostic tools spread, their outputs need the same protection as the raw data they're trained on.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0080" y="5440680"/>
            <a:ext cx="1092708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50" i="1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Beyond healthcare, the same trade-off (strong security vs. real-time speed) applies to finance, IoT, and any cloud system handling sensitive personal data.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418320" y="484632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1353312"/>
            <a:ext cx="9692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45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Healthcare data in the cloud needs both strong security and real-time speed. Traditional models force a trade-off between </a:t>
            </a:r>
            <a:r>
              <a:rPr lang="en-US" sz="1450" dirty="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the two.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13432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88720" y="2249424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SymECCipher combines ECC (fast, secure key exchange) with AES-256 (fast, reliable data encryption) into one hybrid framework.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9544"/>
            <a:ext cx="365760" cy="3657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88720" y="3145536"/>
            <a:ext cx="9692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45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It outperforms RSA-2048, AES-256, and ECC-256 alone; 5ms encryption, 4ms decryption, with 25–40% less computational </a:t>
            </a:r>
            <a:r>
              <a:rPr lang="en-US" sz="1450" dirty="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overhead.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05656"/>
            <a:ext cx="365760" cy="3657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88720" y="4041648"/>
            <a:ext cx="9692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45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It protects not just raw patient data, but AI-generated outputs too. This is relevant as ML diagnostics become standard in </a:t>
            </a:r>
            <a:r>
              <a:rPr lang="en-US" sz="1450" dirty="0">
                <a:solidFill>
                  <a:srgbClr val="EAF1F5"/>
                </a:solidFill>
                <a:latin typeface="Calibri"/>
                <a:ea typeface="Calibri"/>
                <a:cs typeface="Calibri"/>
              </a:rPr>
              <a:t>healthcare.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5"/>
          <p:cNvSpPr/>
          <p:nvPr/>
        </p:nvSpPr>
        <p:spPr>
          <a:xfrm>
            <a:off x="640080" y="5212080"/>
            <a:ext cx="1092708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6"/>
          <p:cNvSpPr/>
          <p:nvPr/>
        </p:nvSpPr>
        <p:spPr>
          <a:xfrm>
            <a:off x="640080" y="5394960"/>
            <a:ext cx="10927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Selvi, P. &amp; Sakthivel, S. (2025). A hybrid ECC-AES encryption framework for secure and efficient cloud-based data protection. Scientific Reports, 15, 30867.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640080" y="580644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https://www.nature.com/articles/s41598-025-01315-5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SymECCipher: Hybrid ECC-AES Encryption for Healthcare Cloud Security</dc:title>
  <dc:subject>PptxGenJS Presentation</dc:subject>
  <dc:creator>University Presentation</dc:creator>
  <cp:lastModifiedBy>University Presentation</cp:lastModifiedBy>
  <cp:revision>456</cp:revision>
  <dcterms:created xsi:type="dcterms:W3CDTF">2026-06-21T22:00:57Z</dcterms:created>
  <dcterms:modified xsi:type="dcterms:W3CDTF">2026-06-23T13:51:36Z</dcterms:modified>
</cp:coreProperties>
</file>